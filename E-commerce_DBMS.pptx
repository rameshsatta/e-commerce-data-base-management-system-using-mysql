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2CFB450-6A01-454E-8A16-2ABB4BDF5E74}">
          <p14:sldIdLst>
            <p14:sldId id="256"/>
            <p14:sldId id="257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wNQJMzCqA62swNwb2B0dOnTd5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2328"/>
    <a:srgbClr val="FBFBFB"/>
    <a:srgbClr val="FBFBFA"/>
    <a:srgbClr val="F7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2744A-2870-4A90-94C4-2B8ABBE2FB25}" v="117" dt="2025-09-22T22:32:57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DC63BA6-7E75-1039-466D-BE0BCB7A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C6185E6-98FC-2435-3FD7-1C0FD3CD7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B6B5565-1EDD-60DE-92F3-85FA79EC6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647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DBEFB43-98CA-FD05-ADB1-9BDB3D44B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DEF358F-B2A6-3CC0-39BF-6986523AB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57F3B00-23D2-5D04-BAF4-AB2AD3C61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942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08ABEDA-EA97-FE0B-3CA5-D2765D68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04FF8A5-310A-D797-D732-44F3CCA47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8534138-BF51-A6BE-E968-76977E75C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896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5B9BB5E-9EE6-D6B3-E30D-03C27AB6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5F40323-8220-2CA7-FDF1-1415C0E64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AF16D89-D8D9-6BE6-071A-7DF7D6DE3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58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C0C13D6-022D-EEBB-CC14-D61EB49A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E940794-2E8F-27DB-FCE2-A26EC9CD3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405DF1C-4E14-A6DB-2747-DD825AEA8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793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E7AB9A8-D7A7-097F-BE3C-ACCE6B50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5BA9701-E054-07F5-FD4F-368C3CA86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2E38CEC-5B9E-E21D-3A2F-D8CEB2CCE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588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ADD6AAA-EEEF-6902-EA0A-25ABC3FC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BBD0E44-10AF-BF65-F146-46030BC2D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424E82C-8172-8C55-4B5A-2F0F18F35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167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23B8716-8741-9FB1-386F-855C6E5F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51C1751-3C22-3FB8-5817-2C72BEF806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E96B6F7-685C-2464-2F14-6DDED485E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855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BC04AC-03F0-528A-A5A6-7CBBAE7C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E19D4E6-5FA0-B2EC-B9E0-01EAAF7A8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0836DFE-279B-8B98-5728-50D39401C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209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75B02D7-CEBA-B804-AE9A-A22685B1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7480E35-E84A-72CE-BF12-89EB8936D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3A2A5ED-5CEA-C7ED-D7CD-46FD2A281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17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D70E4EB-253D-56EC-77F2-0C2B9FFC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0620E46-09EF-3D50-A608-FBB076E08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F00269F-584A-7C6C-E0CB-15CEC071F4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966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0FB3B8-4C55-425C-540C-3813584B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9B9DA3C-066D-456B-8A9A-60F1570B2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A083AEA-5F9E-F8AE-836C-0E9CA81D0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279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4182852" y="3799266"/>
            <a:ext cx="382629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latin typeface="Seaford Display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E-Commerce Database Management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7D948-3759-2E59-6163-262CF04F4C71}"/>
              </a:ext>
            </a:extLst>
          </p:cNvPr>
          <p:cNvSpPr txBox="1"/>
          <p:nvPr/>
        </p:nvSpPr>
        <p:spPr>
          <a:xfrm>
            <a:off x="8082116" y="5014452"/>
            <a:ext cx="2428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aford Display" panose="00000500000000000000" pitchFamily="2" charset="0"/>
              </a:rPr>
              <a:t>Ramesh Satta</a:t>
            </a:r>
          </a:p>
          <a:p>
            <a:r>
              <a:rPr lang="en-US" sz="1600" b="1" dirty="0">
                <a:latin typeface="Seaford Display" panose="00000500000000000000" pitchFamily="2" charset="0"/>
              </a:rPr>
              <a:t>Innomatics Research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653518FD-F752-0788-509F-66705EDF135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1BF423-F032-32A1-D6EA-33940B1C66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CD8C0-4247-D482-E216-A2CF210F8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4F2F89-CFEF-1B04-161D-FCA2874646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0B68817-B8A7-6A15-D73B-774B20FD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040" y="581665"/>
            <a:ext cx="8971280" cy="73913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Project Overview</a:t>
            </a:r>
            <a:endParaRPr lang="en-IN" sz="4400" dirty="0">
              <a:latin typeface="Seaford Display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0A102-B75E-7D13-9F47-1824C898E9B4}"/>
              </a:ext>
            </a:extLst>
          </p:cNvPr>
          <p:cNvSpPr txBox="1"/>
          <p:nvPr/>
        </p:nvSpPr>
        <p:spPr>
          <a:xfrm>
            <a:off x="1217017" y="1371677"/>
            <a:ext cx="10544036" cy="512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800" indent="0">
              <a:buClr>
                <a:srgbClr val="E52328"/>
              </a:buClr>
              <a:buNone/>
            </a:pPr>
            <a:r>
              <a:rPr lang="en-US" sz="2800" b="1" dirty="0">
                <a:solidFill>
                  <a:schemeClr val="tx1"/>
                </a:solidFill>
                <a:latin typeface="Seaford Display" panose="00000500000000000000" pitchFamily="2" charset="0"/>
              </a:rPr>
              <a:t>Goal</a:t>
            </a:r>
            <a:r>
              <a:rPr lang="en-US" sz="2800" dirty="0">
                <a:solidFill>
                  <a:schemeClr val="tx1"/>
                </a:solidFill>
                <a:latin typeface="Seaford Display" panose="00000500000000000000" pitchFamily="2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To design and implement a scalable </a:t>
            </a:r>
            <a:r>
              <a:rPr lang="en-US" sz="2400" b="1" dirty="0">
                <a:solidFill>
                  <a:schemeClr val="tx1"/>
                </a:solidFill>
                <a:latin typeface="Seaford Display" panose="00000500000000000000" pitchFamily="2" charset="0"/>
              </a:rPr>
              <a:t>E-	Commerce database system</a:t>
            </a:r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.</a:t>
            </a:r>
          </a:p>
          <a:p>
            <a:pPr marL="50800" indent="0">
              <a:buClr>
                <a:srgbClr val="E52328"/>
              </a:buClr>
              <a:buNone/>
            </a:pPr>
            <a:endParaRPr lang="en-US" sz="2800" dirty="0">
              <a:solidFill>
                <a:schemeClr val="tx1"/>
              </a:solidFill>
              <a:latin typeface="Seaford Display" panose="00000500000000000000" pitchFamily="2" charset="0"/>
            </a:endParaRPr>
          </a:p>
          <a:p>
            <a:pPr marL="50800" indent="0">
              <a:buClr>
                <a:srgbClr val="E52328"/>
              </a:buClr>
              <a:buNone/>
            </a:pPr>
            <a:endParaRPr lang="en-US" sz="2800" dirty="0">
              <a:solidFill>
                <a:schemeClr val="tx1"/>
              </a:solidFill>
              <a:latin typeface="Seaford Display" panose="00000500000000000000" pitchFamily="2" charset="0"/>
            </a:endParaRPr>
          </a:p>
          <a:p>
            <a:pPr marL="50800" indent="0">
              <a:buClr>
                <a:srgbClr val="E52328"/>
              </a:buClr>
              <a:buNone/>
            </a:pPr>
            <a:endParaRPr lang="en-US" sz="2800" dirty="0">
              <a:solidFill>
                <a:schemeClr val="tx1"/>
              </a:solidFill>
              <a:latin typeface="Seaford Display" panose="00000500000000000000" pitchFamily="2" charset="0"/>
            </a:endParaRPr>
          </a:p>
          <a:p>
            <a:pPr marL="50800" indent="0">
              <a:buClr>
                <a:srgbClr val="E52328"/>
              </a:buClr>
              <a:buNone/>
            </a:pPr>
            <a:endParaRPr lang="en-US" sz="2800" dirty="0">
              <a:solidFill>
                <a:schemeClr val="tx1"/>
              </a:solidFill>
              <a:latin typeface="Seaford Display" panose="00000500000000000000" pitchFamily="2" charset="0"/>
            </a:endParaRPr>
          </a:p>
          <a:p>
            <a:pPr marL="50800" indent="0">
              <a:buClr>
                <a:srgbClr val="E52328"/>
              </a:buClr>
              <a:buNone/>
            </a:pPr>
            <a:endParaRPr lang="en-US" sz="2800" dirty="0">
              <a:solidFill>
                <a:schemeClr val="tx1"/>
              </a:solidFill>
              <a:latin typeface="Seaford Display" panose="00000500000000000000" pitchFamily="2" charset="0"/>
            </a:endParaRPr>
          </a:p>
          <a:p>
            <a:pPr marL="50800" indent="0">
              <a:buClr>
                <a:srgbClr val="E52328"/>
              </a:buClr>
              <a:buNone/>
            </a:pPr>
            <a:endParaRPr lang="en-US" sz="2800" dirty="0">
              <a:solidFill>
                <a:schemeClr val="tx1"/>
              </a:solidFill>
              <a:latin typeface="Seaford Display" panose="00000500000000000000" pitchFamily="2" charset="0"/>
            </a:endParaRPr>
          </a:p>
          <a:p>
            <a:pPr marL="50800" indent="0">
              <a:buClr>
                <a:srgbClr val="E52328"/>
              </a:buClr>
              <a:buNone/>
            </a:pPr>
            <a:r>
              <a:rPr lang="en-US" sz="2800" b="1" dirty="0">
                <a:solidFill>
                  <a:schemeClr val="tx1"/>
                </a:solidFill>
                <a:latin typeface="Seaford Display" panose="00000500000000000000" pitchFamily="2" charset="0"/>
              </a:rPr>
              <a:t>Features:</a:t>
            </a:r>
          </a:p>
          <a:p>
            <a:pPr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Relational structure with 7 tables.</a:t>
            </a:r>
          </a:p>
          <a:p>
            <a:pPr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Data (1000 rows) same-like real-world transactions.</a:t>
            </a:r>
          </a:p>
          <a:p>
            <a:pPr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Queries to extract </a:t>
            </a:r>
            <a:r>
              <a:rPr lang="en-US" sz="2400" b="1" dirty="0">
                <a:solidFill>
                  <a:schemeClr val="tx1"/>
                </a:solidFill>
                <a:latin typeface="Seaford Display" panose="00000500000000000000" pitchFamily="2" charset="0"/>
              </a:rPr>
              <a:t>business insights</a:t>
            </a:r>
            <a:r>
              <a:rPr lang="en-US" sz="2400" dirty="0">
                <a:solidFill>
                  <a:schemeClr val="tx1"/>
                </a:solidFill>
                <a:latin typeface="Seaford Display" panose="00000500000000000000" pitchFamily="2" charset="0"/>
              </a:rPr>
              <a:t>.</a:t>
            </a:r>
          </a:p>
        </p:txBody>
      </p:sp>
      <p:pic>
        <p:nvPicPr>
          <p:cNvPr id="11" name="Picture 10" descr="A close-up of a diagram&#10;&#10;AI-generated content may be incorrect.">
            <a:extLst>
              <a:ext uri="{FF2B5EF4-FFF2-40B4-BE49-F238E27FC236}">
                <a16:creationId xmlns:a16="http://schemas.microsoft.com/office/drawing/2014/main" id="{03FBDB8C-467E-DFC4-9A39-1315F6914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786" y="2121353"/>
            <a:ext cx="7266983" cy="25122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FBDC564-8C3D-012E-6F73-8E0CB78A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ADB7F563-5075-8466-1638-D1B815C8564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EDD0DA-B431-1C3B-629C-6F561D79B9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A5268-21A2-B4F0-5C94-0FBB043B1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A18ADD-4EF8-53EE-8C88-A151611D86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B6C37-75FA-C0F9-65DF-7728AA914225}"/>
              </a:ext>
            </a:extLst>
          </p:cNvPr>
          <p:cNvSpPr txBox="1"/>
          <p:nvPr/>
        </p:nvSpPr>
        <p:spPr>
          <a:xfrm>
            <a:off x="1465334" y="1246619"/>
            <a:ext cx="918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E52328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eaford Display" panose="00000500000000000000" pitchFamily="2" charset="0"/>
              </a:rPr>
              <a:t>7 Tables in Database</a:t>
            </a:r>
          </a:p>
          <a:p>
            <a:pPr marL="457200" indent="-457200">
              <a:buClr>
                <a:srgbClr val="E52328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eaford Display" panose="00000500000000000000" pitchFamily="2" charset="0"/>
              </a:rPr>
              <a:t>Relationships maintained via </a:t>
            </a:r>
            <a:r>
              <a:rPr lang="en-US" sz="2400" b="1" dirty="0">
                <a:latin typeface="Seaford Display" panose="00000500000000000000" pitchFamily="2" charset="0"/>
              </a:rPr>
              <a:t>Primary &amp; Foreign Keys</a:t>
            </a:r>
            <a:r>
              <a:rPr lang="en-US" sz="2400" dirty="0">
                <a:latin typeface="Seaford Display" panose="00000500000000000000" pitchFamily="2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BF330-35F1-7064-1E79-C58FCE979226}"/>
              </a:ext>
            </a:extLst>
          </p:cNvPr>
          <p:cNvSpPr txBox="1"/>
          <p:nvPr/>
        </p:nvSpPr>
        <p:spPr>
          <a:xfrm>
            <a:off x="2271252" y="422787"/>
            <a:ext cx="42450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E52328"/>
                </a:solidFill>
                <a:latin typeface="Seaford Display" panose="00000500000000000000" pitchFamily="2" charset="0"/>
              </a:rPr>
              <a:t>Database Schema</a:t>
            </a:r>
            <a:endParaRPr lang="en-IN" sz="44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E09987E-8BB2-719B-4C1C-92CE2A04FD30}"/>
              </a:ext>
            </a:extLst>
          </p:cNvPr>
          <p:cNvGrpSpPr/>
          <p:nvPr/>
        </p:nvGrpSpPr>
        <p:grpSpPr>
          <a:xfrm>
            <a:off x="1406268" y="2140149"/>
            <a:ext cx="3353208" cy="2536227"/>
            <a:chOff x="4160501" y="1399557"/>
            <a:chExt cx="3353208" cy="253622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ADD2FEE-082E-15FA-1E7D-BEDD94FD8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0501" y="1695300"/>
              <a:ext cx="3353208" cy="224048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44FEA9F-978C-A4FF-C566-1839841C9BF2}"/>
                </a:ext>
              </a:extLst>
            </p:cNvPr>
            <p:cNvSpPr txBox="1">
              <a:spLocks/>
            </p:cNvSpPr>
            <p:nvPr/>
          </p:nvSpPr>
          <p:spPr>
            <a:xfrm>
              <a:off x="4160501" y="1399557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Seaford Display" panose="00000500000000000000" pitchFamily="2" charset="0"/>
                </a:rPr>
                <a:t>Customers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DBE5C6-E5F1-475B-81ED-00FAAD484321}"/>
              </a:ext>
            </a:extLst>
          </p:cNvPr>
          <p:cNvGrpSpPr/>
          <p:nvPr/>
        </p:nvGrpSpPr>
        <p:grpSpPr>
          <a:xfrm>
            <a:off x="3678805" y="4990028"/>
            <a:ext cx="3778049" cy="1272722"/>
            <a:chOff x="7963237" y="4413189"/>
            <a:chExt cx="3778049" cy="127272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F53AC9D-AB3C-6A39-86C0-D5110D6ED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63237" y="4709272"/>
              <a:ext cx="3778049" cy="976639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7BCC533-7CE3-E6B8-C977-7AFDB3A555A2}"/>
                </a:ext>
              </a:extLst>
            </p:cNvPr>
            <p:cNvSpPr txBox="1"/>
            <p:nvPr/>
          </p:nvSpPr>
          <p:spPr>
            <a:xfrm>
              <a:off x="7963237" y="4413189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Seaford Display" panose="00000500000000000000" pitchFamily="2" charset="0"/>
                </a:rPr>
                <a:t>Categories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6A17093-8C8F-92B9-BB15-A72AA9881ADE}"/>
              </a:ext>
            </a:extLst>
          </p:cNvPr>
          <p:cNvGrpSpPr/>
          <p:nvPr/>
        </p:nvGrpSpPr>
        <p:grpSpPr>
          <a:xfrm>
            <a:off x="4773651" y="2128198"/>
            <a:ext cx="3205317" cy="2379204"/>
            <a:chOff x="4308392" y="3895358"/>
            <a:chExt cx="3205317" cy="237920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81B8DA5-DD45-5AC6-0EB0-F078DFD87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08392" y="4175842"/>
              <a:ext cx="3205317" cy="209872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D627D8-2E76-C652-0F07-DD6F61652AAE}"/>
                </a:ext>
              </a:extLst>
            </p:cNvPr>
            <p:cNvSpPr txBox="1"/>
            <p:nvPr/>
          </p:nvSpPr>
          <p:spPr>
            <a:xfrm>
              <a:off x="4308392" y="3895358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Seaford Display" panose="00000500000000000000" pitchFamily="2" charset="0"/>
                </a:rPr>
                <a:t>Orders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749F93-6DC5-3DD9-EDB4-24A1E21B42CC}"/>
              </a:ext>
            </a:extLst>
          </p:cNvPr>
          <p:cNvGrpSpPr/>
          <p:nvPr/>
        </p:nvGrpSpPr>
        <p:grpSpPr>
          <a:xfrm>
            <a:off x="8591839" y="2297475"/>
            <a:ext cx="3162542" cy="1910249"/>
            <a:chOff x="7776270" y="1850589"/>
            <a:chExt cx="3162542" cy="191024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C85F21C-404D-7F35-C857-74215F6BF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90445" y="2150046"/>
              <a:ext cx="3148367" cy="161079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EAAD65A-0B08-9843-3524-7CEB404FD8B4}"/>
                </a:ext>
              </a:extLst>
            </p:cNvPr>
            <p:cNvSpPr txBox="1"/>
            <p:nvPr/>
          </p:nvSpPr>
          <p:spPr>
            <a:xfrm>
              <a:off x="7776270" y="1850589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Seaford Display" panose="00000500000000000000" pitchFamily="2" charset="0"/>
                </a:rPr>
                <a:t>Products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068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37101CE-ED81-D73C-873E-B1452D3B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484D0BA4-32C9-FE65-1763-300C6C112D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4BF185-BD68-B744-9A89-0C018CAE1D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55EDF9-0A06-DA47-ABED-CBAE3529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7A5C48-4F71-6E3F-373A-42BA0C04AA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890859-83D2-EE93-884F-F8EA23DD29BC}"/>
              </a:ext>
            </a:extLst>
          </p:cNvPr>
          <p:cNvGrpSpPr/>
          <p:nvPr/>
        </p:nvGrpSpPr>
        <p:grpSpPr>
          <a:xfrm>
            <a:off x="1756885" y="1000687"/>
            <a:ext cx="4229690" cy="2997080"/>
            <a:chOff x="2392269" y="817159"/>
            <a:chExt cx="3462691" cy="270933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8663733-2764-BF69-82F4-D99EAD719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2269" y="1155713"/>
              <a:ext cx="3462691" cy="237078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4CA970-6BFF-B30B-E0C7-63D6CFFD0308}"/>
                </a:ext>
              </a:extLst>
            </p:cNvPr>
            <p:cNvSpPr txBox="1"/>
            <p:nvPr/>
          </p:nvSpPr>
          <p:spPr>
            <a:xfrm>
              <a:off x="2392269" y="817159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 err="1">
                  <a:latin typeface="Seaford Display" panose="00000500000000000000" pitchFamily="2" charset="0"/>
                </a:rPr>
                <a:t>Order_Items</a:t>
              </a:r>
              <a:endParaRPr lang="en-US" sz="1600" b="1" dirty="0">
                <a:latin typeface="Seaford Display" panose="000005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449FF1-DF34-7653-5445-0FDE2481F168}"/>
              </a:ext>
            </a:extLst>
          </p:cNvPr>
          <p:cNvGrpSpPr/>
          <p:nvPr/>
        </p:nvGrpSpPr>
        <p:grpSpPr>
          <a:xfrm>
            <a:off x="6551642" y="1000688"/>
            <a:ext cx="4229690" cy="2859917"/>
            <a:chOff x="1577582" y="3927968"/>
            <a:chExt cx="4229690" cy="285991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463C06-D5F5-FFD3-869E-B69C12C3C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77582" y="4196723"/>
              <a:ext cx="4229690" cy="2591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70B475-1FBC-ECFD-8D7D-65BD523D5640}"/>
                </a:ext>
              </a:extLst>
            </p:cNvPr>
            <p:cNvSpPr txBox="1"/>
            <p:nvPr/>
          </p:nvSpPr>
          <p:spPr>
            <a:xfrm>
              <a:off x="1598090" y="3927968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Seaford Display" panose="00000500000000000000" pitchFamily="2" charset="0"/>
                </a:rPr>
                <a:t>Payments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DCA471-0926-BAA6-5491-301AA216B600}"/>
              </a:ext>
            </a:extLst>
          </p:cNvPr>
          <p:cNvGrpSpPr/>
          <p:nvPr/>
        </p:nvGrpSpPr>
        <p:grpSpPr>
          <a:xfrm>
            <a:off x="3492324" y="3941852"/>
            <a:ext cx="4145054" cy="2834901"/>
            <a:chOff x="7032816" y="1602712"/>
            <a:chExt cx="4145054" cy="283490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9E200B-FE95-B014-8DE3-5E05AA83E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32816" y="1941266"/>
              <a:ext cx="4145054" cy="249634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9B001C-E154-AE80-AEA6-BD677D0B158A}"/>
                </a:ext>
              </a:extLst>
            </p:cNvPr>
            <p:cNvSpPr txBox="1"/>
            <p:nvPr/>
          </p:nvSpPr>
          <p:spPr>
            <a:xfrm>
              <a:off x="7032816" y="1602712"/>
              <a:ext cx="158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Seaford Display" panose="00000500000000000000" pitchFamily="2" charset="0"/>
                </a:rPr>
                <a:t>Shipping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74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DEE99C4-5A1B-69AD-CBB4-3FFBE523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32EB9A2B-FDD2-6A74-EBA6-BF5F9EE4AC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F2EB5C-0935-B304-0257-2DF6F6F88A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15EE9-8364-BD46-5832-0AE76B201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AC7C82-A20F-39AB-0FCD-E956A2034D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014477-17C0-52DC-655B-CE8D1EA23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7245" y="556362"/>
            <a:ext cx="9007621" cy="5981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24951A-B9A8-A2EA-E73E-DF7426271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513" y="6086167"/>
            <a:ext cx="2499577" cy="4801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79AC5A-E31A-983A-C42F-61247B7E9B38}"/>
              </a:ext>
            </a:extLst>
          </p:cNvPr>
          <p:cNvSpPr txBox="1"/>
          <p:nvPr/>
        </p:nvSpPr>
        <p:spPr>
          <a:xfrm>
            <a:off x="2271252" y="422787"/>
            <a:ext cx="28873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E52328"/>
                </a:solidFill>
                <a:latin typeface="Seaford Display" panose="00000500000000000000" pitchFamily="2" charset="0"/>
              </a:rPr>
              <a:t>ER Diagram</a:t>
            </a:r>
            <a:endParaRPr lang="en-IN" sz="44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63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84AFA77-8DA0-68DA-159D-5E0B3D82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EF7B5DD0-556F-BB09-A0F0-947B306925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CD9D44-ADE2-D645-F0B4-44CFC43FF0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Data Characteristics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2F01C-3C1B-1670-52B6-13EBE59E9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4C821A-AEFD-4968-58EC-F3E00CB2B8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013B5-279C-A497-0248-A80D5ADC628F}"/>
              </a:ext>
            </a:extLst>
          </p:cNvPr>
          <p:cNvSpPr txBox="1"/>
          <p:nvPr/>
        </p:nvSpPr>
        <p:spPr>
          <a:xfrm>
            <a:off x="2271252" y="422787"/>
            <a:ext cx="47724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E52328"/>
                </a:solidFill>
                <a:latin typeface="Seaford Display" panose="00000500000000000000" pitchFamily="2" charset="0"/>
              </a:rPr>
              <a:t>Data Characteristics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2FFDF-2D9A-C65E-4E76-F65A05425913}"/>
              </a:ext>
            </a:extLst>
          </p:cNvPr>
          <p:cNvSpPr txBox="1"/>
          <p:nvPr/>
        </p:nvSpPr>
        <p:spPr>
          <a:xfrm>
            <a:off x="1779639" y="1276552"/>
            <a:ext cx="80722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Realistic values ensured</a:t>
            </a:r>
          </a:p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Authentic names (all religions, male/female).</a:t>
            </a:r>
          </a:p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Valid emails (randomized).</a:t>
            </a:r>
          </a:p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Cities–States–</a:t>
            </a:r>
            <a:r>
              <a:rPr lang="en-IN" sz="2400" dirty="0" err="1">
                <a:latin typeface="Seaford Display" panose="00000500000000000000" pitchFamily="2" charset="0"/>
              </a:rPr>
              <a:t>Pincodes</a:t>
            </a:r>
            <a:r>
              <a:rPr lang="en-IN" sz="2400" dirty="0">
                <a:latin typeface="Seaford Display" panose="00000500000000000000" pitchFamily="2" charset="0"/>
              </a:rPr>
              <a:t> aligned properly..</a:t>
            </a:r>
          </a:p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Prices aligned with market standards.</a:t>
            </a:r>
          </a:p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Payment limits (UPI under RBI cap).</a:t>
            </a:r>
          </a:p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Seaford Display" panose="00000500000000000000" pitchFamily="2" charset="0"/>
              </a:rPr>
              <a:t>Data prepared using </a:t>
            </a:r>
            <a:r>
              <a:rPr lang="en-IN" sz="2400" b="1" dirty="0">
                <a:latin typeface="Seaford Display" panose="00000500000000000000" pitchFamily="2" charset="0"/>
              </a:rPr>
              <a:t>Python &amp; Faker library</a:t>
            </a:r>
            <a:r>
              <a:rPr lang="en-IN" sz="2400" dirty="0">
                <a:latin typeface="Seaford Display" panose="00000500000000000000" pitchFamily="2" charset="0"/>
              </a:rPr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0888F6-5AB2-6B4E-CD7C-24386DF14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614395"/>
              </p:ext>
            </p:extLst>
          </p:nvPr>
        </p:nvGraphicFramePr>
        <p:xfrm>
          <a:off x="1005757" y="4242620"/>
          <a:ext cx="10920772" cy="1258526"/>
        </p:xfrm>
        <a:graphic>
          <a:graphicData uri="http://schemas.openxmlformats.org/drawingml/2006/table">
            <a:tbl>
              <a:tblPr/>
              <a:tblGrid>
                <a:gridCol w="687531">
                  <a:extLst>
                    <a:ext uri="{9D8B030D-6E8A-4147-A177-3AD203B41FA5}">
                      <a16:colId xmlns:a16="http://schemas.microsoft.com/office/drawing/2014/main" val="2258135071"/>
                    </a:ext>
                  </a:extLst>
                </a:gridCol>
                <a:gridCol w="587888">
                  <a:extLst>
                    <a:ext uri="{9D8B030D-6E8A-4147-A177-3AD203B41FA5}">
                      <a16:colId xmlns:a16="http://schemas.microsoft.com/office/drawing/2014/main" val="1928877973"/>
                    </a:ext>
                  </a:extLst>
                </a:gridCol>
                <a:gridCol w="572723">
                  <a:extLst>
                    <a:ext uri="{9D8B030D-6E8A-4147-A177-3AD203B41FA5}">
                      <a16:colId xmlns:a16="http://schemas.microsoft.com/office/drawing/2014/main" val="3238890153"/>
                    </a:ext>
                  </a:extLst>
                </a:gridCol>
                <a:gridCol w="1735982">
                  <a:extLst>
                    <a:ext uri="{9D8B030D-6E8A-4147-A177-3AD203B41FA5}">
                      <a16:colId xmlns:a16="http://schemas.microsoft.com/office/drawing/2014/main" val="3850175787"/>
                    </a:ext>
                  </a:extLst>
                </a:gridCol>
                <a:gridCol w="592040">
                  <a:extLst>
                    <a:ext uri="{9D8B030D-6E8A-4147-A177-3AD203B41FA5}">
                      <a16:colId xmlns:a16="http://schemas.microsoft.com/office/drawing/2014/main" val="1486832238"/>
                    </a:ext>
                  </a:extLst>
                </a:gridCol>
                <a:gridCol w="983388">
                  <a:extLst>
                    <a:ext uri="{9D8B030D-6E8A-4147-A177-3AD203B41FA5}">
                      <a16:colId xmlns:a16="http://schemas.microsoft.com/office/drawing/2014/main" val="2413110829"/>
                    </a:ext>
                  </a:extLst>
                </a:gridCol>
                <a:gridCol w="742558">
                  <a:extLst>
                    <a:ext uri="{9D8B030D-6E8A-4147-A177-3AD203B41FA5}">
                      <a16:colId xmlns:a16="http://schemas.microsoft.com/office/drawing/2014/main" val="3569856156"/>
                    </a:ext>
                  </a:extLst>
                </a:gridCol>
                <a:gridCol w="421452">
                  <a:extLst>
                    <a:ext uri="{9D8B030D-6E8A-4147-A177-3AD203B41FA5}">
                      <a16:colId xmlns:a16="http://schemas.microsoft.com/office/drawing/2014/main" val="3504232840"/>
                    </a:ext>
                  </a:extLst>
                </a:gridCol>
                <a:gridCol w="1495152">
                  <a:extLst>
                    <a:ext uri="{9D8B030D-6E8A-4147-A177-3AD203B41FA5}">
                      <a16:colId xmlns:a16="http://schemas.microsoft.com/office/drawing/2014/main" val="1481956242"/>
                    </a:ext>
                  </a:extLst>
                </a:gridCol>
                <a:gridCol w="511763">
                  <a:extLst>
                    <a:ext uri="{9D8B030D-6E8A-4147-A177-3AD203B41FA5}">
                      <a16:colId xmlns:a16="http://schemas.microsoft.com/office/drawing/2014/main" val="175461951"/>
                    </a:ext>
                  </a:extLst>
                </a:gridCol>
                <a:gridCol w="883043">
                  <a:extLst>
                    <a:ext uri="{9D8B030D-6E8A-4147-A177-3AD203B41FA5}">
                      <a16:colId xmlns:a16="http://schemas.microsoft.com/office/drawing/2014/main" val="2573669932"/>
                    </a:ext>
                  </a:extLst>
                </a:gridCol>
                <a:gridCol w="910115">
                  <a:extLst>
                    <a:ext uri="{9D8B030D-6E8A-4147-A177-3AD203B41FA5}">
                      <a16:colId xmlns:a16="http://schemas.microsoft.com/office/drawing/2014/main" val="1404348070"/>
                    </a:ext>
                  </a:extLst>
                </a:gridCol>
                <a:gridCol w="797137">
                  <a:extLst>
                    <a:ext uri="{9D8B030D-6E8A-4147-A177-3AD203B41FA5}">
                      <a16:colId xmlns:a16="http://schemas.microsoft.com/office/drawing/2014/main" val="3174822257"/>
                    </a:ext>
                  </a:extLst>
                </a:gridCol>
              </a:tblGrid>
              <a:tr h="180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customer_id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first_name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last_name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pincode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product_name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unit_price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payment_method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payment_amount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payment_status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223198"/>
                  </a:ext>
                </a:extLst>
              </a:tr>
              <a:tr h="180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Anjali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Chopra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anjalichopra@yahoo.com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7837744197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Telangana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500001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Mamaearth Face Wash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559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87501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Success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105779"/>
                  </a:ext>
                </a:extLst>
              </a:tr>
              <a:tr h="180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Karan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Singh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karansingh@outlook.com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8215704331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Gujarat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380002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Sleepwell Mattress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19955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87352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Refunded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23537"/>
                  </a:ext>
                </a:extLst>
              </a:tr>
              <a:tr h="180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Nazia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Noor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nazia_noor@outlook.com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8171545444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Karnataka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560076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Science Handbook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1575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81323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Success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10593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Paul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johnpaul@hotmail.com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9181599706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Delhi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Delhi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110001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Sony Headphones WH-1000XM5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25925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78555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226230"/>
                  </a:ext>
                </a:extLst>
              </a:tr>
              <a:tr h="1808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Sadia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Sheikh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sadiasheikh@gmail.com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7718274968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Kochi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Kerala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682001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Puma Hoodie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2093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UPI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76743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Success</a:t>
                      </a:r>
                    </a:p>
                  </a:txBody>
                  <a:tcPr marL="5941" marR="5941" marT="59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573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7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E4727BD-A8CF-16E8-C6D4-4A84105D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8EFCCEE7-8F77-257B-136A-6C3A48A513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CD322A-6345-41E5-FEC4-EEC220D781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8342B2-371E-B9B9-170D-DCCAF30DD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2F4E7-E5D6-CEF2-EA8E-559A7567E18B}"/>
              </a:ext>
            </a:extLst>
          </p:cNvPr>
          <p:cNvSpPr txBox="1"/>
          <p:nvPr/>
        </p:nvSpPr>
        <p:spPr>
          <a:xfrm>
            <a:off x="1123199" y="1192228"/>
            <a:ext cx="5877370" cy="571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E52328"/>
              </a:buClr>
            </a:pPr>
            <a:r>
              <a:rPr lang="en-US" sz="2400" dirty="0">
                <a:latin typeface="Seaford Display" panose="00000500000000000000" pitchFamily="2" charset="0"/>
              </a:rPr>
              <a:t>We aim to address key business challenges: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FBB02-93A6-FB38-5C51-008807BAB599}"/>
              </a:ext>
            </a:extLst>
          </p:cNvPr>
          <p:cNvSpPr txBox="1"/>
          <p:nvPr/>
        </p:nvSpPr>
        <p:spPr>
          <a:xfrm>
            <a:off x="2271252" y="422787"/>
            <a:ext cx="26100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E52328"/>
                </a:solidFill>
                <a:latin typeface="Seaford Display" panose="00000500000000000000" pitchFamily="2" charset="0"/>
              </a:rPr>
              <a:t>Objectives</a:t>
            </a:r>
          </a:p>
        </p:txBody>
      </p:sp>
      <p:pic>
        <p:nvPicPr>
          <p:cNvPr id="13" name="Picture 12" descr="A diagram of e-commerce&#10;&#10;AI-generated content may be incorrect.">
            <a:extLst>
              <a:ext uri="{FF2B5EF4-FFF2-40B4-BE49-F238E27FC236}">
                <a16:creationId xmlns:a16="http://schemas.microsoft.com/office/drawing/2014/main" id="{C5EA79FE-F19C-7CA8-B67B-952A5B0AA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252" y="2068274"/>
            <a:ext cx="7193961" cy="43486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D4A57-6561-C814-B0E1-BBA066131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23" y="6030963"/>
            <a:ext cx="2499577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1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BE4434E-4C85-934C-D47C-9535D035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E782E6FA-C1D2-EDC6-84F7-F20A82C1DF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4592A9-706C-3573-B6C2-5306CC85FF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F73B3-8F5C-67FA-F1BC-CF0DD2D7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3A4D23-3A48-7B01-A63B-0954ADC04C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97447-5EF2-AEA0-73E2-865B8611A0EF}"/>
              </a:ext>
            </a:extLst>
          </p:cNvPr>
          <p:cNvSpPr txBox="1"/>
          <p:nvPr/>
        </p:nvSpPr>
        <p:spPr>
          <a:xfrm>
            <a:off x="1566280" y="851007"/>
            <a:ext cx="81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Top 5 Products Driving Revenue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AEC9FD-8ED8-10F8-665F-A6AF8D6EE61F}"/>
              </a:ext>
            </a:extLst>
          </p:cNvPr>
          <p:cNvGrpSpPr/>
          <p:nvPr/>
        </p:nvGrpSpPr>
        <p:grpSpPr>
          <a:xfrm>
            <a:off x="1566280" y="1462237"/>
            <a:ext cx="5230759" cy="3238497"/>
            <a:chOff x="1566280" y="1462237"/>
            <a:chExt cx="5230759" cy="32384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506ECE-0CF8-E763-C2DC-BA96F66D1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6280" y="1817068"/>
              <a:ext cx="5230759" cy="1746932"/>
            </a:xfrm>
            <a:prstGeom prst="rect">
              <a:avLst/>
            </a:prstGeom>
          </p:spPr>
        </p:pic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9B9B0B93-AC71-0070-FA08-851F7A367E6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383059" y="2977409"/>
              <a:ext cx="1591630" cy="809612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E6381F72-05C2-D80A-2FE6-3FFA3CC2A98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042560" y="4125450"/>
              <a:ext cx="1541120" cy="416972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Flowchart: Extract 22">
              <a:extLst>
                <a:ext uri="{FF2B5EF4-FFF2-40B4-BE49-F238E27FC236}">
                  <a16:creationId xmlns:a16="http://schemas.microsoft.com/office/drawing/2014/main" id="{5675585B-2A7F-18AF-D495-B80ECD233B4B}"/>
                </a:ext>
              </a:extLst>
            </p:cNvPr>
            <p:cNvSpPr/>
            <p:nvPr/>
          </p:nvSpPr>
          <p:spPr>
            <a:xfrm rot="16200000">
              <a:off x="5042518" y="4394479"/>
              <a:ext cx="317048" cy="295461"/>
            </a:xfrm>
            <a:prstGeom prst="flowChartExtra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12F283-4A14-EA8B-7D1D-14E515DD08AA}"/>
                </a:ext>
              </a:extLst>
            </p:cNvPr>
            <p:cNvSpPr txBox="1"/>
            <p:nvPr/>
          </p:nvSpPr>
          <p:spPr>
            <a:xfrm>
              <a:off x="1689184" y="3487832"/>
              <a:ext cx="13206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800" b="1" dirty="0">
                  <a:solidFill>
                    <a:srgbClr val="E52328"/>
                  </a:solidFill>
                  <a:latin typeface="Seaford Display" panose="00000500000000000000" pitchFamily="2" charset="0"/>
                </a:rPr>
                <a:t>Output</a:t>
              </a:r>
              <a:endParaRPr lang="en-US" sz="1800" dirty="0">
                <a:solidFill>
                  <a:srgbClr val="E52328"/>
                </a:solidFill>
                <a:latin typeface="Seaford Display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E5AA75-CAC6-EABF-0F8D-C168990F5A1B}"/>
                </a:ext>
              </a:extLst>
            </p:cNvPr>
            <p:cNvSpPr txBox="1"/>
            <p:nvPr/>
          </p:nvSpPr>
          <p:spPr>
            <a:xfrm>
              <a:off x="1689184" y="1462237"/>
              <a:ext cx="13206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800" b="1" dirty="0">
                  <a:solidFill>
                    <a:srgbClr val="E52328"/>
                  </a:solidFill>
                  <a:latin typeface="Seaford Display" panose="00000500000000000000" pitchFamily="2" charset="0"/>
                </a:rPr>
                <a:t>Input</a:t>
              </a:r>
              <a:endParaRPr lang="en-US" sz="1800" dirty="0">
                <a:solidFill>
                  <a:srgbClr val="E52328"/>
                </a:solidFill>
                <a:latin typeface="Seaford Display" panose="00000500000000000000" pitchFamily="2" charset="0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540AB2-30F2-CB9C-6E8F-306ED00EA245}"/>
              </a:ext>
            </a:extLst>
          </p:cNvPr>
          <p:cNvCxnSpPr>
            <a:cxnSpLocks/>
          </p:cNvCxnSpPr>
          <p:nvPr/>
        </p:nvCxnSpPr>
        <p:spPr>
          <a:xfrm>
            <a:off x="6684376" y="1462237"/>
            <a:ext cx="0" cy="3997623"/>
          </a:xfrm>
          <a:prstGeom prst="line">
            <a:avLst/>
          </a:prstGeom>
          <a:ln>
            <a:solidFill>
              <a:srgbClr val="E52328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AD005DF4-DD00-C8FE-0B68-654390CAA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562" y="3943391"/>
            <a:ext cx="3391373" cy="1514686"/>
          </a:xfrm>
          <a:prstGeom prst="rect">
            <a:avLst/>
          </a:prstGeom>
        </p:spPr>
      </p:pic>
      <p:pic>
        <p:nvPicPr>
          <p:cNvPr id="36" name="Picture 35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CC447EB7-80F7-3E96-47F2-15657370C1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1419" y="1716942"/>
            <a:ext cx="5059686" cy="354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0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D6F08AE-7609-4DB6-CE40-51449C39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05204B3D-DCFE-8F8C-072F-3E8E7D47DA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BA38A4-E378-544C-5064-2A2F67094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9A54B-CA2E-531A-5F90-D1E2BACE2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A2891C-543A-B163-A6F8-AEEA282A9B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BEA53-4C31-50A1-E287-A8F9CA02AFFE}"/>
              </a:ext>
            </a:extLst>
          </p:cNvPr>
          <p:cNvSpPr txBox="1"/>
          <p:nvPr/>
        </p:nvSpPr>
        <p:spPr>
          <a:xfrm>
            <a:off x="1566280" y="851007"/>
            <a:ext cx="81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Revenue Contribution by Category</a:t>
            </a:r>
            <a:endParaRPr lang="en-US" sz="2800" b="1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73DCEB-400A-6250-D0DA-212496086101}"/>
              </a:ext>
            </a:extLst>
          </p:cNvPr>
          <p:cNvGrpSpPr/>
          <p:nvPr/>
        </p:nvGrpSpPr>
        <p:grpSpPr>
          <a:xfrm>
            <a:off x="1566280" y="1411754"/>
            <a:ext cx="5731119" cy="4521891"/>
            <a:chOff x="1566280" y="1411754"/>
            <a:chExt cx="5731119" cy="452189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6FB7CF-8FBB-22FC-AAC2-A81C29128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6280" y="1721962"/>
              <a:ext cx="4677428" cy="15718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98D80D-5A35-0E12-DD2C-DC5CD014C0E5}"/>
                </a:ext>
              </a:extLst>
            </p:cNvPr>
            <p:cNvSpPr txBox="1"/>
            <p:nvPr/>
          </p:nvSpPr>
          <p:spPr>
            <a:xfrm>
              <a:off x="1605911" y="1411754"/>
              <a:ext cx="13206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800" b="1" dirty="0">
                  <a:solidFill>
                    <a:srgbClr val="E52328"/>
                  </a:solidFill>
                  <a:latin typeface="Seaford Display" panose="00000500000000000000" pitchFamily="2" charset="0"/>
                </a:rPr>
                <a:t>Input</a:t>
              </a:r>
              <a:endParaRPr lang="en-US" sz="1800" dirty="0">
                <a:solidFill>
                  <a:srgbClr val="E52328"/>
                </a:solidFill>
                <a:latin typeface="Seaford Display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AB3749-CEBB-B6EB-A224-A7F203873908}"/>
                </a:ext>
              </a:extLst>
            </p:cNvPr>
            <p:cNvSpPr txBox="1"/>
            <p:nvPr/>
          </p:nvSpPr>
          <p:spPr>
            <a:xfrm>
              <a:off x="1605911" y="3486603"/>
              <a:ext cx="13206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E52328"/>
                </a:buClr>
                <a:buFont typeface="Wingdings" panose="05000000000000000000" pitchFamily="2" charset="2"/>
                <a:buChar char="q"/>
              </a:pPr>
              <a:r>
                <a:rPr lang="en-US" sz="1800" b="1" dirty="0">
                  <a:solidFill>
                    <a:srgbClr val="E52328"/>
                  </a:solidFill>
                  <a:latin typeface="Seaford Display" panose="00000500000000000000" pitchFamily="2" charset="0"/>
                </a:rPr>
                <a:t>Output</a:t>
              </a:r>
              <a:endParaRPr lang="en-US" sz="1800" dirty="0">
                <a:solidFill>
                  <a:srgbClr val="E52328"/>
                </a:solidFill>
                <a:latin typeface="Seaford Display" panose="00000500000000000000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91D2A2F-60BF-E690-B69F-E55FFAAAF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66280" y="3885484"/>
              <a:ext cx="2867425" cy="2048161"/>
            </a:xfrm>
            <a:prstGeom prst="rect">
              <a:avLst/>
            </a:prstGeom>
          </p:spPr>
        </p:pic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EF779BED-1045-B20D-D80A-1413C3AFFA99}"/>
                </a:ext>
              </a:extLst>
            </p:cNvPr>
            <p:cNvCxnSpPr>
              <a:cxnSpLocks/>
            </p:cNvCxnSpPr>
            <p:nvPr/>
          </p:nvCxnSpPr>
          <p:spPr>
            <a:xfrm>
              <a:off x="6007558" y="2388562"/>
              <a:ext cx="1289841" cy="1068492"/>
            </a:xfrm>
            <a:prstGeom prst="bentConnector3">
              <a:avLst>
                <a:gd name="adj1" fmla="val 117723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F935780F-2D4D-F610-8A92-DB241C6F4B2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86863" y="3457054"/>
              <a:ext cx="3010536" cy="148056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Flowchart: Merge 18">
              <a:extLst>
                <a:ext uri="{FF2B5EF4-FFF2-40B4-BE49-F238E27FC236}">
                  <a16:creationId xmlns:a16="http://schemas.microsoft.com/office/drawing/2014/main" id="{D0D8C052-B651-8503-14DB-43AC5D860263}"/>
                </a:ext>
              </a:extLst>
            </p:cNvPr>
            <p:cNvSpPr/>
            <p:nvPr/>
          </p:nvSpPr>
          <p:spPr>
            <a:xfrm rot="5400000">
              <a:off x="4124806" y="4805700"/>
              <a:ext cx="353961" cy="263837"/>
            </a:xfrm>
            <a:prstGeom prst="flowChartMerg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34732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15F860F-5545-FDE0-9CC8-48A48F8D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609F9587-7319-D1A4-9A59-C2F708B3AC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BD1333-DAA1-BCC1-9D74-D99984B3DB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D4A36-772F-E1E8-F859-39DC88A1C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A67532-B383-D2DE-37B9-28534E726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075-865A-E789-0D93-668B57CE29C9}"/>
              </a:ext>
            </a:extLst>
          </p:cNvPr>
          <p:cNvSpPr txBox="1"/>
          <p:nvPr/>
        </p:nvSpPr>
        <p:spPr>
          <a:xfrm>
            <a:off x="1566280" y="851007"/>
            <a:ext cx="81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Monthly Sales Trend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257C0-8DD9-5F4E-7A4D-09CFC59C50A4}"/>
              </a:ext>
            </a:extLst>
          </p:cNvPr>
          <p:cNvSpPr txBox="1"/>
          <p:nvPr/>
        </p:nvSpPr>
        <p:spPr>
          <a:xfrm>
            <a:off x="1566280" y="1423052"/>
            <a:ext cx="1320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Input</a:t>
            </a:r>
            <a:endParaRPr lang="en-US" sz="18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9371C-6F03-169F-7552-AEF42B2FE148}"/>
              </a:ext>
            </a:extLst>
          </p:cNvPr>
          <p:cNvSpPr txBox="1"/>
          <p:nvPr/>
        </p:nvSpPr>
        <p:spPr>
          <a:xfrm>
            <a:off x="1675261" y="3815972"/>
            <a:ext cx="1320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Output</a:t>
            </a:r>
            <a:endParaRPr lang="en-US" sz="18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B200D4-AF26-3C5A-6459-63A285525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280" y="1812886"/>
            <a:ext cx="4353533" cy="1905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D757D9-9044-95B0-3703-20CE1B36C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261" y="4283124"/>
            <a:ext cx="2162477" cy="2362530"/>
          </a:xfrm>
          <a:prstGeom prst="rect">
            <a:avLst/>
          </a:prstGeom>
        </p:spPr>
      </p:pic>
      <p:pic>
        <p:nvPicPr>
          <p:cNvPr id="16" name="Picture 15" descr="A graph with green lines and numbers">
            <a:extLst>
              <a:ext uri="{FF2B5EF4-FFF2-40B4-BE49-F238E27FC236}">
                <a16:creationId xmlns:a16="http://schemas.microsoft.com/office/drawing/2014/main" id="{45672E43-1C5B-5575-A4C4-A05DA8F03B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400" y="2279619"/>
            <a:ext cx="6630883" cy="33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5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F071538-E80B-EDE5-5497-43B48B1A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359B9B3C-8047-3B3C-CAA4-08F63A43AB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BC108B-00AE-2CCF-97DC-66B673CA1D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8593D-8D26-CBC3-8F18-F497B7F51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327ACF-FE87-79E4-DD08-3581F02AA5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F4031-09FD-C20B-F760-094EEA38BBD4}"/>
              </a:ext>
            </a:extLst>
          </p:cNvPr>
          <p:cNvSpPr txBox="1"/>
          <p:nvPr/>
        </p:nvSpPr>
        <p:spPr>
          <a:xfrm>
            <a:off x="1566280" y="851007"/>
            <a:ext cx="81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Top States by Order Volume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D1761-788E-2150-21A3-B27F89218DEE}"/>
              </a:ext>
            </a:extLst>
          </p:cNvPr>
          <p:cNvSpPr txBox="1"/>
          <p:nvPr/>
        </p:nvSpPr>
        <p:spPr>
          <a:xfrm>
            <a:off x="7823335" y="1054179"/>
            <a:ext cx="1320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Input</a:t>
            </a:r>
            <a:endParaRPr lang="en-US" sz="18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420824-E8ED-A3AA-7EC8-432D27840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352" y="1492094"/>
            <a:ext cx="4429743" cy="1648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C8FC69-C9A4-55E1-4ECE-F51E95B952F0}"/>
              </a:ext>
            </a:extLst>
          </p:cNvPr>
          <p:cNvSpPr txBox="1"/>
          <p:nvPr/>
        </p:nvSpPr>
        <p:spPr>
          <a:xfrm>
            <a:off x="8897871" y="3024066"/>
            <a:ext cx="1320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Output</a:t>
            </a:r>
            <a:endParaRPr lang="en-US" sz="18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4D7A6-E716-D1FE-2D33-30903F15B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335" y="3421021"/>
            <a:ext cx="2400635" cy="2400635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3467CB7-C5FE-7B7E-BE8E-DBF6843B6194}"/>
              </a:ext>
            </a:extLst>
          </p:cNvPr>
          <p:cNvCxnSpPr>
            <a:cxnSpLocks/>
          </p:cNvCxnSpPr>
          <p:nvPr/>
        </p:nvCxnSpPr>
        <p:spPr>
          <a:xfrm rot="10800000">
            <a:off x="3490454" y="3503327"/>
            <a:ext cx="1455172" cy="56722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822FBB8-1392-B9FC-5FE8-8A5CF1E98687}"/>
              </a:ext>
            </a:extLst>
          </p:cNvPr>
          <p:cNvCxnSpPr>
            <a:cxnSpLocks/>
          </p:cNvCxnSpPr>
          <p:nvPr/>
        </p:nvCxnSpPr>
        <p:spPr>
          <a:xfrm rot="10800000">
            <a:off x="4915829" y="4065641"/>
            <a:ext cx="1773780" cy="58255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Flowchart: Merge 21">
            <a:extLst>
              <a:ext uri="{FF2B5EF4-FFF2-40B4-BE49-F238E27FC236}">
                <a16:creationId xmlns:a16="http://schemas.microsoft.com/office/drawing/2014/main" id="{8CBDE348-43F2-468B-CC94-6C21B9D84A01}"/>
              </a:ext>
            </a:extLst>
          </p:cNvPr>
          <p:cNvSpPr/>
          <p:nvPr/>
        </p:nvSpPr>
        <p:spPr>
          <a:xfrm rot="16200000">
            <a:off x="6380710" y="4516282"/>
            <a:ext cx="353961" cy="263837"/>
          </a:xfrm>
          <a:prstGeom prst="flowChartMer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 descr="A graph of a number of people">
            <a:extLst>
              <a:ext uri="{FF2B5EF4-FFF2-40B4-BE49-F238E27FC236}">
                <a16:creationId xmlns:a16="http://schemas.microsoft.com/office/drawing/2014/main" id="{3348627B-AF5E-C588-B0A4-79DE05068F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644" y="1587406"/>
            <a:ext cx="7344708" cy="428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1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2AB01E-97EC-6992-4F69-0755D842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9AD9343C-DE57-DB27-EF3B-FD99F85679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398724-E086-B8BF-E308-F0011F0EBC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DBE1E-776B-E54F-34F3-E1D6826E6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8447F5-0096-0A6F-5EEF-D9D92C7BE8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AC315-05CD-CEC1-77A9-22A6FC8FB3D9}"/>
              </a:ext>
            </a:extLst>
          </p:cNvPr>
          <p:cNvSpPr txBox="1"/>
          <p:nvPr/>
        </p:nvSpPr>
        <p:spPr>
          <a:xfrm>
            <a:off x="1566280" y="851007"/>
            <a:ext cx="81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Identifying VIP Customers (High Spenders)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5EDDA-5EB1-9F2E-73CE-16DCB55D310C}"/>
              </a:ext>
            </a:extLst>
          </p:cNvPr>
          <p:cNvSpPr txBox="1"/>
          <p:nvPr/>
        </p:nvSpPr>
        <p:spPr>
          <a:xfrm>
            <a:off x="1566280" y="1501861"/>
            <a:ext cx="1320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Input</a:t>
            </a:r>
            <a:endParaRPr lang="en-US" sz="18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866D2C-7176-6098-377E-DC2A2DB7B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986" y="1991656"/>
            <a:ext cx="6580855" cy="19214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B39559-F489-BE89-0A95-6F8125071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849" y="1784828"/>
            <a:ext cx="3877216" cy="24577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197DBE-8869-C579-B035-651910CB6540}"/>
              </a:ext>
            </a:extLst>
          </p:cNvPr>
          <p:cNvSpPr txBox="1"/>
          <p:nvPr/>
        </p:nvSpPr>
        <p:spPr>
          <a:xfrm>
            <a:off x="8203307" y="1346453"/>
            <a:ext cx="1320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52328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Output</a:t>
            </a:r>
            <a:endParaRPr lang="en-US" sz="1800" dirty="0">
              <a:solidFill>
                <a:srgbClr val="E52328"/>
              </a:solidFill>
              <a:latin typeface="Seaford Display" panose="00000500000000000000" pitchFamily="2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90E393D-D81B-AD8B-D673-CEE990A4EF4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04142" y="3972108"/>
            <a:ext cx="1640307" cy="106825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EECB1D3-00D2-0B26-BE3C-79BC700F3D91}"/>
              </a:ext>
            </a:extLst>
          </p:cNvPr>
          <p:cNvCxnSpPr>
            <a:cxnSpLocks/>
          </p:cNvCxnSpPr>
          <p:nvPr/>
        </p:nvCxnSpPr>
        <p:spPr>
          <a:xfrm rot="10800000">
            <a:off x="5256502" y="5336223"/>
            <a:ext cx="1033664" cy="1270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Merge 19">
            <a:extLst>
              <a:ext uri="{FF2B5EF4-FFF2-40B4-BE49-F238E27FC236}">
                <a16:creationId xmlns:a16="http://schemas.microsoft.com/office/drawing/2014/main" id="{84DBF5AF-5D5E-43FE-20A0-939F7D32B09F}"/>
              </a:ext>
            </a:extLst>
          </p:cNvPr>
          <p:cNvSpPr/>
          <p:nvPr/>
        </p:nvSpPr>
        <p:spPr>
          <a:xfrm rot="5400000">
            <a:off x="5211439" y="5210654"/>
            <a:ext cx="353961" cy="263837"/>
          </a:xfrm>
          <a:prstGeom prst="flowChartMer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 descr="A graph of a bar chart">
            <a:extLst>
              <a:ext uri="{FF2B5EF4-FFF2-40B4-BE49-F238E27FC236}">
                <a16:creationId xmlns:a16="http://schemas.microsoft.com/office/drawing/2014/main" id="{8E3A87AF-829C-304F-35CF-AE33739EC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1998" y="3624490"/>
            <a:ext cx="5378256" cy="31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1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30B265-7992-F382-C61D-858F5738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9A44772D-4E32-84C2-867C-8FD226D74E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4A390F-B403-0961-4F7D-8718332B9B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16A027-F599-0967-5BFC-6C1F3B8A38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B4EC83-24F5-9ECC-A82F-96B86CF1D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0EC70B-E311-CFF5-874A-9B1A2B1EC272}"/>
              </a:ext>
            </a:extLst>
          </p:cNvPr>
          <p:cNvSpPr txBox="1"/>
          <p:nvPr/>
        </p:nvSpPr>
        <p:spPr>
          <a:xfrm>
            <a:off x="1566280" y="851007"/>
            <a:ext cx="81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Conclusion and Future Scope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282A12-036E-2FA8-E330-58C220B6F04A}"/>
              </a:ext>
            </a:extLst>
          </p:cNvPr>
          <p:cNvSpPr txBox="1"/>
          <p:nvPr/>
        </p:nvSpPr>
        <p:spPr>
          <a:xfrm>
            <a:off x="1789471" y="1641987"/>
            <a:ext cx="8357419" cy="167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Seaford Display" panose="00000500000000000000" pitchFamily="2" charset="0"/>
              </a:rPr>
              <a:t>Designed a </a:t>
            </a:r>
            <a:r>
              <a:rPr lang="en-US" sz="2400" b="1" dirty="0">
                <a:latin typeface="Seaford Display" panose="00000500000000000000" pitchFamily="2" charset="0"/>
              </a:rPr>
              <a:t>robust relational database</a:t>
            </a:r>
            <a:r>
              <a:rPr lang="en-US" sz="2400" dirty="0">
                <a:latin typeface="Seaford Display" panose="00000500000000000000" pitchFamily="2" charset="0"/>
              </a:rPr>
              <a:t> for E-Commerce.</a:t>
            </a:r>
          </a:p>
          <a:p>
            <a:pPr marL="342900" indent="-342900"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Seaford Display" panose="00000500000000000000" pitchFamily="2" charset="0"/>
              </a:rPr>
              <a:t>Generated </a:t>
            </a:r>
            <a:r>
              <a:rPr lang="en-US" sz="2400" b="1" dirty="0">
                <a:latin typeface="Seaford Display" panose="00000500000000000000" pitchFamily="2" charset="0"/>
              </a:rPr>
              <a:t>actionable insights</a:t>
            </a:r>
            <a:r>
              <a:rPr lang="en-US" sz="2400" dirty="0">
                <a:latin typeface="Seaford Display" panose="00000500000000000000" pitchFamily="2" charset="0"/>
              </a:rPr>
              <a:t> from SQL queries.</a:t>
            </a:r>
          </a:p>
          <a:p>
            <a:pPr marL="342900" indent="-342900"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Seaford Display" panose="00000500000000000000" pitchFamily="2" charset="0"/>
              </a:rPr>
              <a:t>Enhanced understanding of data management &amp; analysis.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11520D-349A-AAB0-7C0D-4B4303FE5939}"/>
              </a:ext>
            </a:extLst>
          </p:cNvPr>
          <p:cNvSpPr txBox="1"/>
          <p:nvPr/>
        </p:nvSpPr>
        <p:spPr>
          <a:xfrm>
            <a:off x="1566280" y="3896579"/>
            <a:ext cx="2415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2328"/>
                </a:solidFill>
                <a:latin typeface="Seaford Display" panose="00000500000000000000" pitchFamily="2" charset="0"/>
              </a:rPr>
              <a:t>Future Scope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AE773E-6DFF-3CBC-BDCD-7DFD87F95A91}"/>
              </a:ext>
            </a:extLst>
          </p:cNvPr>
          <p:cNvSpPr txBox="1"/>
          <p:nvPr/>
        </p:nvSpPr>
        <p:spPr>
          <a:xfrm>
            <a:off x="1907458" y="4419799"/>
            <a:ext cx="6096000" cy="167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eaford Display" panose="00000500000000000000" pitchFamily="2" charset="0"/>
              </a:rPr>
              <a:t>Integrate Inventory Management.</a:t>
            </a:r>
          </a:p>
          <a:p>
            <a:pPr marL="342900" indent="-342900"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eaford Display" panose="00000500000000000000" pitchFamily="2" charset="0"/>
              </a:rPr>
              <a:t>Add Customer Feedback Analysis.</a:t>
            </a:r>
          </a:p>
          <a:p>
            <a:pPr marL="342900" indent="-342900">
              <a:lnSpc>
                <a:spcPct val="150000"/>
              </a:lnSpc>
              <a:buClr>
                <a:srgbClr val="E52328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eaford Display" panose="00000500000000000000" pitchFamily="2" charset="0"/>
              </a:rPr>
              <a:t>Expand dataset for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1244083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30B9EF3-79DE-B23E-CE56-CBB5E433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0CE26DE1-C6CB-497D-3302-FE6D8B6B78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FBCC75-2599-125F-B1EF-365D437699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6179" y="678426"/>
            <a:ext cx="6538451" cy="19369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9D5C5A-4675-0661-A6BC-D82C7D48F8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7104" y="3097162"/>
            <a:ext cx="2836605" cy="6636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 descr="A handshake of people shaking hands&#10;&#10;AI-generated content may be incorrect.">
            <a:extLst>
              <a:ext uri="{FF2B5EF4-FFF2-40B4-BE49-F238E27FC236}">
                <a16:creationId xmlns:a16="http://schemas.microsoft.com/office/drawing/2014/main" id="{21A76F77-FFFB-AF35-D21D-6472607AB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9951E-378D-9B1D-84EC-432F46D1B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841" y="5939523"/>
            <a:ext cx="2499577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8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84E5CA-954B-40D4-833C-65353E3DE4A5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337</Words>
  <Application>Microsoft Office PowerPoint</Application>
  <PresentationFormat>Widescreen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Seaford Display</vt:lpstr>
      <vt:lpstr>Wingdings</vt:lpstr>
      <vt:lpstr>Office Theme</vt:lpstr>
      <vt:lpstr>PowerPoint Presentation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Ramesh Satta</cp:lastModifiedBy>
  <cp:revision>3</cp:revision>
  <dcterms:created xsi:type="dcterms:W3CDTF">2021-02-16T05:19:01Z</dcterms:created>
  <dcterms:modified xsi:type="dcterms:W3CDTF">2025-09-22T22:48:40Z</dcterms:modified>
</cp:coreProperties>
</file>